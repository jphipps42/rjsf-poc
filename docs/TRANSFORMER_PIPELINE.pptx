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15" autoAdjust="0"/>
    <p:restoredTop sz="94641" autoAdjust="0"/>
  </p:normalViewPr>
  <p:slideViewPr>
    <p:cSldViewPr snapToGrid="0" snapToObjects="1">
      <p:cViewPr>
        <p:scale>
          <a:sx n="160" d="100"/>
          <a:sy n="160" d="100"/>
        </p:scale>
        <p:origin x="1016" y="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marL="0" lvl="0" indent="0">
              <a:buNone/>
            </a:pPr>
            <a:r>
              <a:t>Transformer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marL="0" lvl="0" indent="0">
              <a:buNone/>
            </a:pPr>
            <a:r>
              <a:t>Bidirectional JSON-to-Relational Conversion</a:t>
            </a:r>
            <a:br/>
            <a:br/>
            <a:r>
              <a:t>EGS Award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Form data collected as flexible </a:t>
            </a:r>
            <a:r>
              <a:rPr b="1"/>
              <a:t>JSON documents</a:t>
            </a:r>
            <a:r>
              <a:t> from web forms</a:t>
            </a:r>
          </a:p>
          <a:p>
            <a:pPr lvl="1"/>
            <a:r>
              <a:t>JSON storage creates challenges:</a:t>
            </a:r>
          </a:p>
          <a:p>
            <a:pPr lvl="2"/>
            <a:r>
              <a:t>Reporting tools </a:t>
            </a:r>
            <a:r>
              <a:rPr b="1"/>
              <a:t>cannot query</a:t>
            </a:r>
            <a:r>
              <a:t> individual fields</a:t>
            </a:r>
          </a:p>
          <a:p>
            <a:pPr lvl="2"/>
            <a:r>
              <a:t>Compliance audits require </a:t>
            </a:r>
            <a:r>
              <a:rPr b="1"/>
              <a:t>structured data access</a:t>
            </a:r>
          </a:p>
          <a:p>
            <a:pPr lvl="2"/>
            <a:r>
              <a:t>Cross-form analytics impractical with opaque JSON blobs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Solution: Bidirectional Transformation</a:t>
            </a:r>
          </a:p>
        </p:txBody>
      </p:sp>
      <p:pic>
        <p:nvPicPr>
          <p:cNvPr id="3" name="Picture 1" descr="/tmp/doc-diagrams/TRANSFORMER_PIPELINE_diag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3289300"/>
            <a:ext cx="8229600" cy="635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Bidirectional 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Write Path</a:t>
            </a:r>
            <a:r>
              <a:t>: Extract fields from JSON, convert types, store in typed columns</a:t>
            </a:r>
          </a:p>
          <a:p>
            <a:pPr lvl="1"/>
            <a:r>
              <a:rPr b="1"/>
              <a:t>Read Path</a:t>
            </a:r>
            <a:r>
              <a:t>: Query typed columns, reconstruct original JSON structure</a:t>
            </a:r>
          </a:p>
          <a:p>
            <a:pPr lvl="1"/>
            <a:r>
              <a:rPr b="1"/>
              <a:t>Round-trip fidelity</a:t>
            </a:r>
            <a:r>
              <a:t>: What goes in comes back out identically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Real-World Example: PI Budget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What Happens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JSON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User enters 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1448199</a:t>
                      </a:r>
                      <a:r>
                        <a:t> (JS number)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Transform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toBigDecimal</a:t>
                      </a:r>
                      <a:r>
                        <a:t> 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BigDecimal(1448199.00)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Stored in NUMERIC 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1448199.00</a:t>
                      </a:r>
                      <a:r>
                        <a:t> (15,2 precision)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Read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Column value retrieved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BigDecimal(1448199.00)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JSON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Returned to 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1448199.0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No precision loss. No rounding errors.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Key Business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Queryable data</a:t>
            </a:r>
            <a:r>
              <a:t> — Each field in its own typed column; direct SQL for reports</a:t>
            </a:r>
          </a:p>
          <a:p>
            <a:pPr lvl="1"/>
            <a:r>
              <a:rPr b="1"/>
              <a:t>Data integrity</a:t>
            </a:r>
            <a:r>
              <a:t> — Dates stored as dates, numbers as numbers</a:t>
            </a:r>
          </a:p>
          <a:p>
            <a:pPr lvl="1"/>
            <a:r>
              <a:rPr b="1"/>
              <a:t>Validation at the gate</a:t>
            </a:r>
            <a:r>
              <a:t> — Required fields and formats enforced before database</a:t>
            </a:r>
          </a:p>
          <a:p>
            <a:pPr lvl="1"/>
            <a:r>
              <a:rPr b="1"/>
              <a:t>Extensible</a:t>
            </a:r>
            <a:r>
              <a:t> — Custom business logic via named hook points, not hardcoded</a:t>
            </a:r>
          </a:p>
          <a:p>
            <a:pPr lvl="1"/>
            <a:r>
              <a:rPr b="1"/>
              <a:t>Compliance-ready</a:t>
            </a:r>
            <a:r>
              <a:t> — Schema versioning for historical data reconstruction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029200" cy="1143000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Pipeline Architecture</a:t>
            </a:r>
          </a:p>
        </p:txBody>
      </p:sp>
      <p:pic>
        <p:nvPicPr>
          <p:cNvPr id="3" name="Picture 1" descr="/tmp/doc-diagrams/TRANSFORMER_PIPELINE_diag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074979" y="107731"/>
            <a:ext cx="2936328" cy="67728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5613400"/>
            <a:ext cx="4787462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Full Pipeline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Write Pipeline: 7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 b="1"/>
              <a:t>Template Resolution</a:t>
            </a:r>
            <a:r>
              <a:t> — Load template from cache by formId</a:t>
            </a:r>
          </a:p>
          <a:p>
            <a:pPr lvl="1">
              <a:buAutoNum type="arabicPeriod"/>
            </a:pPr>
            <a:r>
              <a:rPr b="1"/>
              <a:t>Pre-Validation Hooks</a:t>
            </a:r>
            <a:r>
              <a:t> — Normalize data (trim, format phones)</a:t>
            </a:r>
          </a:p>
          <a:p>
            <a:pPr lvl="1">
              <a:buAutoNum type="arabicPeriod"/>
            </a:pPr>
            <a:r>
              <a:rPr b="1"/>
              <a:t>Validation Gate</a:t>
            </a:r>
            <a:r>
              <a:t> — Check required fields, enums, formats; collect ALL errors</a:t>
            </a:r>
          </a:p>
          <a:p>
            <a:pPr lvl="1">
              <a:buAutoNum type="arabicPeriod"/>
            </a:pPr>
            <a:r>
              <a:rPr b="1"/>
              <a:t>Field Mapping</a:t>
            </a:r>
            <a:r>
              <a:t> — Extract by jsonPath, apply transforms, coerce types</a:t>
            </a:r>
          </a:p>
          <a:p>
            <a:pPr lvl="1">
              <a:buAutoNum type="arabicPeriod"/>
            </a:pPr>
            <a:r>
              <a:rPr b="1"/>
              <a:t>Pre-Insert Hooks</a:t>
            </a:r>
            <a:r>
              <a:t> — Encrypt, hash, cross-field logic</a:t>
            </a:r>
          </a:p>
          <a:p>
            <a:pPr lvl="1">
              <a:buAutoNum type="arabicPeriod"/>
            </a:pPr>
            <a:r>
              <a:rPr b="1"/>
              <a:t>SQL Insert</a:t>
            </a:r>
            <a:r>
              <a:t> — Atomic parent + child table writes</a:t>
            </a:r>
          </a:p>
          <a:p>
            <a:pPr lvl="1">
              <a:buAutoNum type="arabicPeriod"/>
            </a:pPr>
            <a:r>
              <a:rPr b="1"/>
              <a:t>Post-Insert Hooks</a:t>
            </a:r>
            <a:r>
              <a:t> — Audit events, notifications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Field Mapping Detail</a:t>
            </a:r>
          </a:p>
        </p:txBody>
      </p:sp>
      <p:pic>
        <p:nvPicPr>
          <p:cNvPr id="3" name="Picture 1" descr="/tmp/doc-diagrams/TRANSFORMER_PIPELINE_diag3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3327400"/>
            <a:ext cx="8229600" cy="55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Field Mapping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Built-In Transforms (13 Total)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Transform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Behavior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toLocalDate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toDb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ISO string to LocalDate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toIsoDateString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fromDb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LocalDate to yyyy-MM-dd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toBigDecimal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toDb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Number/String to precise decimal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jsonStringify</a:t>
                      </a:r>
                      <a:r>
                        <a:t> / </a:t>
                      </a:r>
                      <a:r>
                        <a:rPr>
                          <a:latin typeface="Courier"/>
                        </a:rPr>
                        <a:t>jsonParse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Map/List to/from JSON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trimString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toDb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Whitespace removal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toLowerCase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toDb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Case normalization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toBoolean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toDb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“true”/1/true to Boolean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maskLast4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fromDb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PII masking for display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Validation Gate: Complete Error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indent="0">
              <a:buNone/>
            </a:pPr>
            <a:r>
              <a:rPr sz="2000" dirty="0">
                <a:solidFill>
                  <a:srgbClr val="06287E"/>
                </a:solidFill>
                <a:latin typeface="Courier"/>
              </a:rPr>
              <a:t>{</a:t>
            </a:r>
            <a:br>
              <a:rPr sz="2000" dirty="0"/>
            </a:br>
            <a:r>
              <a:rPr sz="2000" dirty="0">
                <a:latin typeface="Courier"/>
              </a:rPr>
              <a:t>  </a:t>
            </a:r>
            <a:r>
              <a:rPr sz="2000" dirty="0">
                <a:solidFill>
                  <a:srgbClr val="902000"/>
                </a:solidFill>
                <a:latin typeface="Courier"/>
              </a:rPr>
              <a:t>"error"</a:t>
            </a:r>
            <a:r>
              <a:rPr sz="2000" dirty="0">
                <a:solidFill>
                  <a:srgbClr val="06287E"/>
                </a:solidFill>
                <a:latin typeface="Courier"/>
              </a:rPr>
              <a:t>:</a:t>
            </a:r>
            <a:r>
              <a:rPr sz="2000" dirty="0">
                <a:latin typeface="Courier"/>
              </a:rPr>
              <a:t> </a:t>
            </a:r>
            <a:r>
              <a:rPr sz="2000" dirty="0">
                <a:solidFill>
                  <a:srgbClr val="4070A0"/>
                </a:solidFill>
                <a:latin typeface="Courier"/>
              </a:rPr>
              <a:t>"VALIDATION_FAILED"</a:t>
            </a:r>
            <a:r>
              <a:rPr sz="2000" dirty="0">
                <a:solidFill>
                  <a:srgbClr val="06287E"/>
                </a:solidFill>
                <a:latin typeface="Courier"/>
              </a:rPr>
              <a:t>,</a:t>
            </a:r>
            <a:br>
              <a:rPr sz="2000" dirty="0"/>
            </a:br>
            <a:r>
              <a:rPr sz="2000" dirty="0">
                <a:latin typeface="Courier"/>
              </a:rPr>
              <a:t>  </a:t>
            </a:r>
            <a:r>
              <a:rPr sz="2000" dirty="0">
                <a:solidFill>
                  <a:srgbClr val="902000"/>
                </a:solidFill>
                <a:latin typeface="Courier"/>
              </a:rPr>
              <a:t>"violations"</a:t>
            </a:r>
            <a:r>
              <a:rPr sz="2000" dirty="0">
                <a:solidFill>
                  <a:srgbClr val="06287E"/>
                </a:solidFill>
                <a:latin typeface="Courier"/>
              </a:rPr>
              <a:t>:</a:t>
            </a:r>
            <a:r>
              <a:rPr sz="2000" dirty="0">
                <a:latin typeface="Courier"/>
              </a:rPr>
              <a:t> </a:t>
            </a:r>
            <a:r>
              <a:rPr sz="2000" dirty="0">
                <a:solidFill>
                  <a:srgbClr val="007020"/>
                </a:solidFill>
                <a:latin typeface="Courier"/>
              </a:rPr>
              <a:t>[</a:t>
            </a:r>
            <a:br>
              <a:rPr sz="2000" dirty="0"/>
            </a:br>
            <a:r>
              <a:rPr sz="2000" dirty="0">
                <a:latin typeface="Courier"/>
              </a:rPr>
              <a:t>    </a:t>
            </a:r>
            <a:r>
              <a:rPr sz="2000" dirty="0">
                <a:solidFill>
                  <a:srgbClr val="06287E"/>
                </a:solidFill>
                <a:latin typeface="Courier"/>
              </a:rPr>
              <a:t>{</a:t>
            </a:r>
            <a:r>
              <a:rPr sz="2000" dirty="0">
                <a:latin typeface="Courier"/>
              </a:rPr>
              <a:t> </a:t>
            </a:r>
            <a:r>
              <a:rPr sz="2000" dirty="0">
                <a:solidFill>
                  <a:srgbClr val="902000"/>
                </a:solidFill>
                <a:latin typeface="Courier"/>
              </a:rPr>
              <a:t>"</a:t>
            </a:r>
            <a:r>
              <a:rPr sz="2000" dirty="0" err="1">
                <a:solidFill>
                  <a:srgbClr val="902000"/>
                </a:solidFill>
                <a:latin typeface="Courier"/>
              </a:rPr>
              <a:t>json_path</a:t>
            </a:r>
            <a:r>
              <a:rPr sz="2000" dirty="0">
                <a:solidFill>
                  <a:srgbClr val="902000"/>
                </a:solidFill>
                <a:latin typeface="Courier"/>
              </a:rPr>
              <a:t>"</a:t>
            </a:r>
            <a:r>
              <a:rPr sz="2000" dirty="0">
                <a:solidFill>
                  <a:srgbClr val="06287E"/>
                </a:solidFill>
                <a:latin typeface="Courier"/>
              </a:rPr>
              <a:t>:</a:t>
            </a:r>
            <a:r>
              <a:rPr sz="2000" dirty="0">
                <a:latin typeface="Courier"/>
              </a:rPr>
              <a:t> </a:t>
            </a:r>
            <a:r>
              <a:rPr sz="2000" dirty="0">
                <a:solidFill>
                  <a:srgbClr val="4070A0"/>
                </a:solidFill>
                <a:latin typeface="Courier"/>
              </a:rPr>
              <a:t>"</a:t>
            </a:r>
            <a:r>
              <a:rPr sz="2000" dirty="0" err="1">
                <a:solidFill>
                  <a:srgbClr val="4070A0"/>
                </a:solidFill>
                <a:latin typeface="Courier"/>
              </a:rPr>
              <a:t>program_manager</a:t>
            </a:r>
            <a:r>
              <a:rPr sz="2000" dirty="0">
                <a:solidFill>
                  <a:srgbClr val="4070A0"/>
                </a:solidFill>
                <a:latin typeface="Courier"/>
              </a:rPr>
              <a:t>"</a:t>
            </a:r>
            <a:r>
              <a:rPr sz="2000" dirty="0">
                <a:solidFill>
                  <a:srgbClr val="06287E"/>
                </a:solidFill>
                <a:latin typeface="Courier"/>
              </a:rPr>
              <a:t>,</a:t>
            </a:r>
            <a:br>
              <a:rPr sz="2000" dirty="0"/>
            </a:br>
            <a:r>
              <a:rPr sz="2000" dirty="0">
                <a:latin typeface="Courier"/>
              </a:rPr>
              <a:t>      </a:t>
            </a:r>
            <a:r>
              <a:rPr sz="2000" dirty="0">
                <a:solidFill>
                  <a:srgbClr val="902000"/>
                </a:solidFill>
                <a:latin typeface="Courier"/>
              </a:rPr>
              <a:t>"message"</a:t>
            </a:r>
            <a:r>
              <a:rPr sz="2000" dirty="0">
                <a:solidFill>
                  <a:srgbClr val="06287E"/>
                </a:solidFill>
                <a:latin typeface="Courier"/>
              </a:rPr>
              <a:t>:</a:t>
            </a:r>
            <a:r>
              <a:rPr sz="2000" dirty="0">
                <a:latin typeface="Courier"/>
              </a:rPr>
              <a:t> </a:t>
            </a:r>
            <a:r>
              <a:rPr sz="2000" dirty="0">
                <a:solidFill>
                  <a:srgbClr val="4070A0"/>
                </a:solidFill>
                <a:latin typeface="Courier"/>
              </a:rPr>
              <a:t>"Required field is missing"</a:t>
            </a:r>
            <a:r>
              <a:rPr sz="2000" dirty="0">
                <a:latin typeface="Courier"/>
              </a:rPr>
              <a:t> </a:t>
            </a:r>
            <a:r>
              <a:rPr sz="2000" dirty="0">
                <a:solidFill>
                  <a:srgbClr val="06287E"/>
                </a:solidFill>
                <a:latin typeface="Courier"/>
              </a:rPr>
              <a:t>}</a:t>
            </a:r>
            <a:r>
              <a:rPr sz="2000" dirty="0">
                <a:solidFill>
                  <a:srgbClr val="007020"/>
                </a:solidFill>
                <a:latin typeface="Courier"/>
              </a:rPr>
              <a:t>,</a:t>
            </a:r>
            <a:br>
              <a:rPr sz="2000" dirty="0"/>
            </a:br>
            <a:r>
              <a:rPr sz="2000" dirty="0">
                <a:latin typeface="Courier"/>
              </a:rPr>
              <a:t>    </a:t>
            </a:r>
            <a:r>
              <a:rPr sz="2000" dirty="0">
                <a:solidFill>
                  <a:srgbClr val="06287E"/>
                </a:solidFill>
                <a:latin typeface="Courier"/>
              </a:rPr>
              <a:t>{</a:t>
            </a:r>
            <a:r>
              <a:rPr sz="2000" dirty="0">
                <a:latin typeface="Courier"/>
              </a:rPr>
              <a:t> </a:t>
            </a:r>
            <a:r>
              <a:rPr sz="2000" dirty="0">
                <a:solidFill>
                  <a:srgbClr val="902000"/>
                </a:solidFill>
                <a:latin typeface="Courier"/>
              </a:rPr>
              <a:t>"</a:t>
            </a:r>
            <a:r>
              <a:rPr sz="2000" dirty="0" err="1">
                <a:solidFill>
                  <a:srgbClr val="902000"/>
                </a:solidFill>
                <a:latin typeface="Courier"/>
              </a:rPr>
              <a:t>json_path</a:t>
            </a:r>
            <a:r>
              <a:rPr sz="2000" dirty="0">
                <a:solidFill>
                  <a:srgbClr val="902000"/>
                </a:solidFill>
                <a:latin typeface="Courier"/>
              </a:rPr>
              <a:t>"</a:t>
            </a:r>
            <a:r>
              <a:rPr sz="2000" dirty="0">
                <a:solidFill>
                  <a:srgbClr val="06287E"/>
                </a:solidFill>
                <a:latin typeface="Courier"/>
              </a:rPr>
              <a:t>:</a:t>
            </a:r>
            <a:r>
              <a:rPr sz="2000" dirty="0">
                <a:latin typeface="Courier"/>
              </a:rPr>
              <a:t> </a:t>
            </a:r>
            <a:r>
              <a:rPr sz="2000" dirty="0">
                <a:solidFill>
                  <a:srgbClr val="4070A0"/>
                </a:solidFill>
                <a:latin typeface="Courier"/>
              </a:rPr>
              <a:t>"</a:t>
            </a:r>
            <a:r>
              <a:rPr sz="2000" dirty="0" err="1">
                <a:solidFill>
                  <a:srgbClr val="4070A0"/>
                </a:solidFill>
                <a:latin typeface="Courier"/>
              </a:rPr>
              <a:t>prime_award_type</a:t>
            </a:r>
            <a:r>
              <a:rPr sz="2000" dirty="0">
                <a:solidFill>
                  <a:srgbClr val="4070A0"/>
                </a:solidFill>
                <a:latin typeface="Courier"/>
              </a:rPr>
              <a:t>"</a:t>
            </a:r>
            <a:r>
              <a:rPr sz="2000" dirty="0">
                <a:solidFill>
                  <a:srgbClr val="06287E"/>
                </a:solidFill>
                <a:latin typeface="Courier"/>
              </a:rPr>
              <a:t>,</a:t>
            </a:r>
            <a:br>
              <a:rPr sz="2000" dirty="0"/>
            </a:br>
            <a:r>
              <a:rPr sz="2000" dirty="0">
                <a:latin typeface="Courier"/>
              </a:rPr>
              <a:t>      </a:t>
            </a:r>
            <a:r>
              <a:rPr sz="2000" dirty="0">
                <a:solidFill>
                  <a:srgbClr val="902000"/>
                </a:solidFill>
                <a:latin typeface="Courier"/>
              </a:rPr>
              <a:t>"message"</a:t>
            </a:r>
            <a:r>
              <a:rPr sz="2000" dirty="0">
                <a:solidFill>
                  <a:srgbClr val="06287E"/>
                </a:solidFill>
                <a:latin typeface="Courier"/>
              </a:rPr>
              <a:t>:</a:t>
            </a:r>
            <a:r>
              <a:rPr sz="2000" dirty="0">
                <a:latin typeface="Courier"/>
              </a:rPr>
              <a:t> </a:t>
            </a:r>
            <a:r>
              <a:rPr sz="2000" dirty="0">
                <a:solidFill>
                  <a:srgbClr val="4070A0"/>
                </a:solidFill>
                <a:latin typeface="Courier"/>
              </a:rPr>
              <a:t>"Value not in allowed values"</a:t>
            </a:r>
            <a:r>
              <a:rPr sz="2000" dirty="0">
                <a:latin typeface="Courier"/>
              </a:rPr>
              <a:t> </a:t>
            </a:r>
            <a:r>
              <a:rPr sz="2000" dirty="0">
                <a:solidFill>
                  <a:srgbClr val="06287E"/>
                </a:solidFill>
                <a:latin typeface="Courier"/>
              </a:rPr>
              <a:t>}</a:t>
            </a:r>
            <a:br>
              <a:rPr sz="2000" dirty="0"/>
            </a:br>
            <a:r>
              <a:rPr sz="2000" dirty="0">
                <a:latin typeface="Courier"/>
              </a:rPr>
              <a:t>  </a:t>
            </a:r>
            <a:r>
              <a:rPr sz="2000" dirty="0">
                <a:solidFill>
                  <a:srgbClr val="007020"/>
                </a:solidFill>
                <a:latin typeface="Courier"/>
              </a:rPr>
              <a:t>]</a:t>
            </a:r>
            <a:br>
              <a:rPr sz="2000" dirty="0"/>
            </a:br>
            <a:r>
              <a:rPr sz="2000" dirty="0">
                <a:solidFill>
                  <a:srgbClr val="06287E"/>
                </a:solidFill>
                <a:latin typeface="Courier"/>
              </a:rPr>
              <a:t>}</a:t>
            </a:r>
          </a:p>
          <a:p>
            <a:pPr marL="0" lvl="0" indent="0">
              <a:buNone/>
            </a:pPr>
            <a:r>
              <a:rPr sz="2000" dirty="0"/>
              <a:t>All violations collected before throwing — caller gets a </a:t>
            </a:r>
            <a:r>
              <a:rPr sz="2000" b="1" dirty="0"/>
              <a:t>complete</a:t>
            </a:r>
            <a:r>
              <a:rPr sz="2000" dirty="0"/>
              <a:t> error list.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SQL Insert: Transactional Safety</a:t>
            </a:r>
          </a:p>
        </p:txBody>
      </p:sp>
      <p:pic>
        <p:nvPicPr>
          <p:cNvPr id="3" name="Picture 1" descr="/tmp/doc-diagrams/TRANSFORMER_PIPELINE_diag4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3086100"/>
            <a:ext cx="8229600" cy="1028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SQL Insert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>
                <a:latin typeface="Courier"/>
              </a:rPr>
              <a:t>@Transactional(isolation = REPEATABLE_READ)</a:t>
            </a:r>
          </a:p>
          <a:p>
            <a:pPr lvl="1"/>
            <a:r>
              <a:t>Parent + child tables in single atomic transaction</a:t>
            </a:r>
          </a:p>
          <a:p>
            <a:pPr lvl="1"/>
            <a:r>
              <a:rPr>
                <a:latin typeface="Courier"/>
              </a:rPr>
              <a:t>GeneratedKeyHolder</a:t>
            </a:r>
            <a:r>
              <a:t> captures auto-generated </a:t>
            </a:r>
            <a:r>
              <a:rPr>
                <a:latin typeface="Courier"/>
              </a:rPr>
              <a:t>submission_id</a:t>
            </a:r>
          </a:p>
          <a:p>
            <a:pPr lvl="1"/>
            <a:r>
              <a:t>Duplicate key caught and returned as HTTP 409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Read Pipeline: 7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68670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lvl="1">
              <a:buAutoNum type="arabicPeriod"/>
            </a:pPr>
            <a:r>
              <a:rPr b="1" dirty="0"/>
              <a:t>Template Resolution</a:t>
            </a:r>
            <a:r>
              <a:rPr dirty="0"/>
              <a:t> — Same template, optional version pinning</a:t>
            </a:r>
          </a:p>
          <a:p>
            <a:pPr lvl="1">
              <a:buAutoNum type="arabicPeriod"/>
            </a:pPr>
            <a:r>
              <a:rPr b="1" dirty="0"/>
              <a:t>Primary Row Query</a:t>
            </a:r>
            <a:r>
              <a:rPr dirty="0"/>
              <a:t> — SELECT by </a:t>
            </a:r>
            <a:r>
              <a:rPr dirty="0" err="1"/>
              <a:t>submission_id</a:t>
            </a:r>
            <a:endParaRPr dirty="0"/>
          </a:p>
          <a:p>
            <a:pPr lvl="1">
              <a:buAutoNum type="arabicPeriod"/>
            </a:pPr>
            <a:r>
              <a:rPr b="1" dirty="0"/>
              <a:t>Child Table Queries</a:t>
            </a:r>
            <a:r>
              <a:rPr dirty="0"/>
              <a:t> — SELECT children ordered by </a:t>
            </a:r>
            <a:r>
              <a:rPr dirty="0" err="1"/>
              <a:t>item_index</a:t>
            </a:r>
            <a:endParaRPr dirty="0"/>
          </a:p>
          <a:p>
            <a:pPr lvl="1">
              <a:buAutoNum type="arabicPeriod"/>
            </a:pPr>
            <a:r>
              <a:rPr b="1" dirty="0"/>
              <a:t>Post-Query Hooks</a:t>
            </a:r>
            <a:r>
              <a:rPr dirty="0"/>
              <a:t> — PII masking, decryption</a:t>
            </a:r>
          </a:p>
          <a:p>
            <a:pPr lvl="1">
              <a:buAutoNum type="arabicPeriod"/>
            </a:pPr>
            <a:r>
              <a:rPr b="1" dirty="0"/>
              <a:t>Field Assembly</a:t>
            </a:r>
            <a:r>
              <a:rPr dirty="0"/>
              <a:t> — </a:t>
            </a:r>
            <a:r>
              <a:rPr dirty="0" err="1"/>
              <a:t>fromDb</a:t>
            </a:r>
            <a:r>
              <a:rPr dirty="0"/>
              <a:t> transforms, rebuild nested JSON</a:t>
            </a:r>
          </a:p>
          <a:p>
            <a:pPr lvl="1">
              <a:buAutoNum type="arabicPeriod"/>
            </a:pPr>
            <a:r>
              <a:rPr b="1" dirty="0"/>
              <a:t>Post-Assembly Hooks</a:t>
            </a:r>
            <a:r>
              <a:rPr dirty="0"/>
              <a:t> — Computed fields, lookup hydration</a:t>
            </a:r>
          </a:p>
          <a:p>
            <a:pPr lvl="1">
              <a:buAutoNum type="arabicPeriod"/>
            </a:pPr>
            <a:r>
              <a:rPr b="1" dirty="0"/>
              <a:t>Response Envelope</a:t>
            </a:r>
            <a:r>
              <a:rPr dirty="0"/>
              <a:t> — Wrap with metadata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Hook System: Extensible Business Logic</a:t>
            </a:r>
          </a:p>
        </p:txBody>
      </p:sp>
      <p:pic>
        <p:nvPicPr>
          <p:cNvPr id="3" name="Picture 1" descr="/tmp/doc-diagrams/TRANSFORMER_PIPELINE_diag5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90648" y="1600199"/>
            <a:ext cx="3062452" cy="523099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6127530" y="5613400"/>
            <a:ext cx="2559269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Hook System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Writing a Custom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indent="0">
              <a:buNone/>
            </a:pPr>
            <a:r>
              <a:rPr sz="2000" dirty="0">
                <a:solidFill>
                  <a:srgbClr val="7D9029"/>
                </a:solidFill>
                <a:latin typeface="Courier"/>
              </a:rPr>
              <a:t>@Component</a:t>
            </a:r>
            <a:r>
              <a:rPr sz="2000" dirty="0">
                <a:solidFill>
                  <a:srgbClr val="666666"/>
                </a:solidFill>
                <a:latin typeface="Courier"/>
              </a:rPr>
              <a:t>(</a:t>
            </a:r>
            <a:r>
              <a:rPr sz="2000" dirty="0">
                <a:solidFill>
                  <a:srgbClr val="4070A0"/>
                </a:solidFill>
                <a:latin typeface="Courier"/>
              </a:rPr>
              <a:t>"</a:t>
            </a:r>
            <a:r>
              <a:rPr sz="2000" dirty="0" err="1">
                <a:solidFill>
                  <a:srgbClr val="4070A0"/>
                </a:solidFill>
                <a:latin typeface="Courier"/>
              </a:rPr>
              <a:t>normalizePhoneNumbersHook</a:t>
            </a:r>
            <a:r>
              <a:rPr sz="2000" dirty="0">
                <a:solidFill>
                  <a:srgbClr val="4070A0"/>
                </a:solidFill>
                <a:latin typeface="Courier"/>
              </a:rPr>
              <a:t>"</a:t>
            </a:r>
            <a:r>
              <a:rPr sz="2000" dirty="0">
                <a:solidFill>
                  <a:srgbClr val="666666"/>
                </a:solidFill>
                <a:latin typeface="Courier"/>
              </a:rPr>
              <a:t>)</a:t>
            </a:r>
            <a:br>
              <a:rPr sz="2000" dirty="0"/>
            </a:br>
            <a:r>
              <a:rPr sz="20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sz="2000" dirty="0">
                <a:latin typeface="Courier"/>
              </a:rPr>
              <a:t> </a:t>
            </a:r>
            <a:r>
              <a:rPr sz="2000"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sz="2000" dirty="0">
                <a:latin typeface="Courier"/>
              </a:rPr>
              <a:t> </a:t>
            </a:r>
            <a:r>
              <a:rPr sz="2000" dirty="0" err="1">
                <a:latin typeface="Courier"/>
              </a:rPr>
              <a:t>NormalizePhoneNumbers</a:t>
            </a:r>
            <a:r>
              <a:rPr sz="2000" dirty="0">
                <a:latin typeface="Courier"/>
              </a:rPr>
              <a:t> </a:t>
            </a:r>
            <a:r>
              <a:rPr sz="2000" b="1" dirty="0">
                <a:solidFill>
                  <a:srgbClr val="007020"/>
                </a:solidFill>
                <a:latin typeface="Courier"/>
              </a:rPr>
              <a:t>implements</a:t>
            </a:r>
            <a:r>
              <a:rPr sz="2000" dirty="0">
                <a:latin typeface="Courier"/>
              </a:rPr>
              <a:t> </a:t>
            </a:r>
            <a:r>
              <a:rPr sz="2000" dirty="0" err="1">
                <a:latin typeface="Courier"/>
              </a:rPr>
              <a:t>WriteHook</a:t>
            </a:r>
            <a:r>
              <a:rPr sz="2000" dirty="0">
                <a:latin typeface="Courier"/>
              </a:rPr>
              <a:t> </a:t>
            </a:r>
            <a:r>
              <a:rPr sz="2000" dirty="0">
                <a:solidFill>
                  <a:srgbClr val="666666"/>
                </a:solidFill>
                <a:latin typeface="Courier"/>
              </a:rPr>
              <a:t>{</a:t>
            </a:r>
            <a:br>
              <a:rPr sz="2000" dirty="0"/>
            </a:br>
            <a:r>
              <a:rPr sz="2000" dirty="0">
                <a:latin typeface="Courier"/>
              </a:rPr>
              <a:t>    </a:t>
            </a:r>
            <a:r>
              <a:rPr sz="2000" dirty="0">
                <a:solidFill>
                  <a:srgbClr val="7D9029"/>
                </a:solidFill>
                <a:latin typeface="Courier"/>
              </a:rPr>
              <a:t>@Override</a:t>
            </a:r>
            <a:br>
              <a:rPr sz="2000" dirty="0"/>
            </a:br>
            <a:r>
              <a:rPr sz="2000" dirty="0">
                <a:latin typeface="Courier"/>
              </a:rPr>
              <a:t>    </a:t>
            </a:r>
            <a:r>
              <a:rPr sz="20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sz="2000" dirty="0">
                <a:latin typeface="Courier"/>
              </a:rPr>
              <a:t> Map</a:t>
            </a:r>
            <a:r>
              <a:rPr sz="2000" dirty="0">
                <a:solidFill>
                  <a:srgbClr val="666666"/>
                </a:solidFill>
                <a:latin typeface="Courier"/>
              </a:rPr>
              <a:t>&lt;</a:t>
            </a:r>
            <a:r>
              <a:rPr sz="2000" dirty="0">
                <a:latin typeface="Courier"/>
              </a:rPr>
              <a:t>String</a:t>
            </a:r>
            <a:r>
              <a:rPr sz="2000" dirty="0">
                <a:solidFill>
                  <a:srgbClr val="666666"/>
                </a:solidFill>
                <a:latin typeface="Courier"/>
              </a:rPr>
              <a:t>,</a:t>
            </a:r>
            <a:r>
              <a:rPr sz="2000" dirty="0">
                <a:latin typeface="Courier"/>
              </a:rPr>
              <a:t> Object</a:t>
            </a:r>
            <a:r>
              <a:rPr sz="2000" dirty="0">
                <a:solidFill>
                  <a:srgbClr val="666666"/>
                </a:solidFill>
                <a:latin typeface="Courier"/>
              </a:rPr>
              <a:t>&gt;</a:t>
            </a:r>
            <a:r>
              <a:rPr sz="2000" dirty="0">
                <a:latin typeface="Courier"/>
              </a:rPr>
              <a:t> </a:t>
            </a:r>
            <a:r>
              <a:rPr sz="2000" dirty="0">
                <a:solidFill>
                  <a:srgbClr val="06287E"/>
                </a:solidFill>
                <a:latin typeface="Courier"/>
              </a:rPr>
              <a:t>apply</a:t>
            </a:r>
            <a:r>
              <a:rPr sz="2000" dirty="0">
                <a:solidFill>
                  <a:srgbClr val="666666"/>
                </a:solidFill>
                <a:latin typeface="Courier"/>
              </a:rPr>
              <a:t>(</a:t>
            </a:r>
            <a:r>
              <a:rPr sz="2000" dirty="0">
                <a:latin typeface="Courier"/>
              </a:rPr>
              <a:t>Map</a:t>
            </a:r>
            <a:r>
              <a:rPr sz="2000" dirty="0">
                <a:solidFill>
                  <a:srgbClr val="666666"/>
                </a:solidFill>
                <a:latin typeface="Courier"/>
              </a:rPr>
              <a:t>&lt;</a:t>
            </a:r>
            <a:r>
              <a:rPr sz="2000" dirty="0">
                <a:latin typeface="Courier"/>
              </a:rPr>
              <a:t>String</a:t>
            </a:r>
            <a:r>
              <a:rPr sz="2000" dirty="0">
                <a:solidFill>
                  <a:srgbClr val="666666"/>
                </a:solidFill>
                <a:latin typeface="Courier"/>
              </a:rPr>
              <a:t>,</a:t>
            </a:r>
            <a:r>
              <a:rPr sz="2000" dirty="0">
                <a:latin typeface="Courier"/>
              </a:rPr>
              <a:t> Object</a:t>
            </a:r>
            <a:r>
              <a:rPr sz="2000" dirty="0">
                <a:solidFill>
                  <a:srgbClr val="666666"/>
                </a:solidFill>
                <a:latin typeface="Courier"/>
              </a:rPr>
              <a:t>&gt;</a:t>
            </a:r>
            <a:r>
              <a:rPr sz="2000" dirty="0">
                <a:latin typeface="Courier"/>
              </a:rPr>
              <a:t> data</a:t>
            </a:r>
            <a:r>
              <a:rPr sz="2000" dirty="0">
                <a:solidFill>
                  <a:srgbClr val="666666"/>
                </a:solidFill>
                <a:latin typeface="Courier"/>
              </a:rPr>
              <a:t>)</a:t>
            </a:r>
            <a:r>
              <a:rPr sz="2000" dirty="0">
                <a:latin typeface="Courier"/>
              </a:rPr>
              <a:t> </a:t>
            </a:r>
            <a:r>
              <a:rPr sz="2000" dirty="0">
                <a:solidFill>
                  <a:srgbClr val="666666"/>
                </a:solidFill>
                <a:latin typeface="Courier"/>
              </a:rPr>
              <a:t>{</a:t>
            </a:r>
            <a:br>
              <a:rPr sz="2000" dirty="0"/>
            </a:br>
            <a:r>
              <a:rPr sz="2000" dirty="0">
                <a:latin typeface="Courier"/>
              </a:rPr>
              <a:t>        </a:t>
            </a:r>
            <a:r>
              <a:rPr sz="2000" i="1" dirty="0">
                <a:solidFill>
                  <a:srgbClr val="60A0B0"/>
                </a:solidFill>
                <a:latin typeface="Courier"/>
              </a:rPr>
              <a:t>// Normalize phone fields to E.164 format</a:t>
            </a:r>
            <a:br>
              <a:rPr sz="2000" dirty="0"/>
            </a:br>
            <a:r>
              <a:rPr sz="2000" dirty="0">
                <a:latin typeface="Courier"/>
              </a:rPr>
              <a:t>        </a:t>
            </a:r>
            <a:r>
              <a:rPr sz="2000" b="1" dirty="0">
                <a:solidFill>
                  <a:srgbClr val="007020"/>
                </a:solidFill>
                <a:latin typeface="Courier"/>
              </a:rPr>
              <a:t>return</a:t>
            </a:r>
            <a:r>
              <a:rPr sz="2000" dirty="0">
                <a:latin typeface="Courier"/>
              </a:rPr>
              <a:t> data</a:t>
            </a:r>
            <a:r>
              <a:rPr sz="2000" dirty="0">
                <a:solidFill>
                  <a:srgbClr val="666666"/>
                </a:solidFill>
                <a:latin typeface="Courier"/>
              </a:rPr>
              <a:t>;</a:t>
            </a:r>
            <a:br>
              <a:rPr sz="2000" dirty="0"/>
            </a:br>
            <a:r>
              <a:rPr sz="2000" dirty="0">
                <a:latin typeface="Courier"/>
              </a:rPr>
              <a:t>    </a:t>
            </a:r>
            <a:r>
              <a:rPr sz="2000" dirty="0">
                <a:solidFill>
                  <a:srgbClr val="666666"/>
                </a:solidFill>
                <a:latin typeface="Courier"/>
              </a:rPr>
              <a:t>}</a:t>
            </a:r>
            <a:br>
              <a:rPr sz="2000" dirty="0"/>
            </a:br>
            <a:r>
              <a:rPr sz="2000" dirty="0">
                <a:solidFill>
                  <a:srgbClr val="666666"/>
                </a:solidFill>
                <a:latin typeface="Courier"/>
              </a:rPr>
              <a:t>}</a:t>
            </a:r>
          </a:p>
          <a:p>
            <a:pPr marL="0" lvl="0" indent="0">
              <a:buNone/>
            </a:pPr>
            <a:r>
              <a:rPr sz="2000" dirty="0"/>
              <a:t>Reference by name in template JSON — no pipeline code changes needed.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API Contract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buNone/>
            </a:pPr>
            <a:r>
              <a:rPr sz="2000" b="1" dirty="0"/>
              <a:t>Write:</a:t>
            </a:r>
          </a:p>
          <a:p>
            <a:pPr lvl="0" indent="0">
              <a:buNone/>
            </a:pPr>
            <a:r>
              <a:rPr sz="2000" dirty="0">
                <a:latin typeface="Courier"/>
              </a:rPr>
              <a:t>POST /</a:t>
            </a:r>
            <a:r>
              <a:rPr sz="2000" dirty="0" err="1">
                <a:latin typeface="Courier"/>
              </a:rPr>
              <a:t>api</a:t>
            </a:r>
            <a:r>
              <a:rPr sz="2000" dirty="0">
                <a:latin typeface="Courier"/>
              </a:rPr>
              <a:t>/v1/submissions
{ "</a:t>
            </a:r>
            <a:r>
              <a:rPr sz="2000" dirty="0" err="1">
                <a:latin typeface="Courier"/>
              </a:rPr>
              <a:t>form_id</a:t>
            </a:r>
            <a:r>
              <a:rPr sz="2000" dirty="0">
                <a:latin typeface="Courier"/>
              </a:rPr>
              <a:t>": "pre-award-overview",
  "</a:t>
            </a:r>
            <a:r>
              <a:rPr sz="2000" dirty="0" err="1">
                <a:latin typeface="Courier"/>
              </a:rPr>
              <a:t>form_data</a:t>
            </a:r>
            <a:r>
              <a:rPr sz="2000" dirty="0">
                <a:latin typeface="Courier"/>
              </a:rPr>
              <a:t>": { "</a:t>
            </a:r>
            <a:r>
              <a:rPr sz="2000" dirty="0" err="1">
                <a:latin typeface="Courier"/>
              </a:rPr>
              <a:t>pi_budget</a:t>
            </a:r>
            <a:r>
              <a:rPr sz="2000" dirty="0">
                <a:latin typeface="Courier"/>
              </a:rPr>
              <a:t>": 1448199, ... } }
→ 201 { "</a:t>
            </a:r>
            <a:r>
              <a:rPr sz="2000" dirty="0" err="1">
                <a:latin typeface="Courier"/>
              </a:rPr>
              <a:t>submission_id</a:t>
            </a:r>
            <a:r>
              <a:rPr sz="2000" dirty="0">
                <a:latin typeface="Courier"/>
              </a:rPr>
              <a:t>": 1, "version": 1 }</a:t>
            </a:r>
          </a:p>
          <a:p>
            <a:pPr marL="0" lvl="0" indent="0">
              <a:buNone/>
            </a:pPr>
            <a:r>
              <a:rPr sz="2000" b="1" dirty="0"/>
              <a:t>Read:</a:t>
            </a:r>
          </a:p>
          <a:p>
            <a:pPr lvl="0" indent="0">
              <a:buNone/>
            </a:pPr>
            <a:r>
              <a:rPr sz="2000" dirty="0">
                <a:latin typeface="Courier"/>
              </a:rPr>
              <a:t>GET /</a:t>
            </a:r>
            <a:r>
              <a:rPr sz="2000" dirty="0" err="1">
                <a:latin typeface="Courier"/>
              </a:rPr>
              <a:t>api</a:t>
            </a:r>
            <a:r>
              <a:rPr sz="2000" dirty="0">
                <a:latin typeface="Courier"/>
              </a:rPr>
              <a:t>/v1/submissions/1?form_id=pre-award-overview
→ 200 { "</a:t>
            </a:r>
            <a:r>
              <a:rPr sz="2000" dirty="0" err="1">
                <a:latin typeface="Courier"/>
              </a:rPr>
              <a:t>submission_id</a:t>
            </a:r>
            <a:r>
              <a:rPr sz="2000" dirty="0">
                <a:latin typeface="Courier"/>
              </a:rPr>
              <a:t>": 1, "</a:t>
            </a:r>
            <a:r>
              <a:rPr sz="2000" dirty="0" err="1">
                <a:latin typeface="Courier"/>
              </a:rPr>
              <a:t>form_data</a:t>
            </a:r>
            <a:r>
              <a:rPr sz="2000" dirty="0">
                <a:latin typeface="Courier"/>
              </a:rPr>
              <a:t>": { ... } 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Error Handling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HTTP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Error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Condition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TEMPLATE_NOT_FOUND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 template for formId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VALIDATION_FAILED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Field constraint violations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VERSION_MISMATCH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Version exceeds template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SUBMISSION_NOT_FOUND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 row for submissionId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DUPLICATE_SUBMISSION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Unique constraint violation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Safety Guarantees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Guarantee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Implementation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Atomic writes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@Transactional with REPEATABLE_READ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Rollback on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DataAccessException triggers rollback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SQL injection prevention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IdentifierValidator + named parameters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Additive-only DDL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Never drop columns or tables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Post-insert isolation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Hook failures don’t rollback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For Business</a:t>
            </a:r>
            <a:r>
              <a:t>: Queryable, typed data for reporting and analytics</a:t>
            </a:r>
          </a:p>
          <a:p>
            <a:pPr lvl="1"/>
            <a:r>
              <a:rPr b="1"/>
              <a:t>For Compliance</a:t>
            </a:r>
            <a:r>
              <a:t>: Schema-versioned submissions with audit trail</a:t>
            </a:r>
          </a:p>
          <a:p>
            <a:pPr lvl="1"/>
            <a:r>
              <a:rPr b="1"/>
              <a:t>For Development</a:t>
            </a:r>
            <a:r>
              <a:t>: 13 built-in transforms, pluggable hooks, zero-code form additions</a:t>
            </a:r>
          </a:p>
          <a:p>
            <a:pPr lvl="1"/>
            <a:r>
              <a:rPr b="1"/>
              <a:t>For Operations</a:t>
            </a:r>
            <a:r>
              <a:t>: Atomic transactions, additive-only DDL, safe error handling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861</Words>
  <Application>Microsoft Macintosh PowerPoint</Application>
  <PresentationFormat>On-screen Show (4:3)</PresentationFormat>
  <Paragraphs>143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Courier</vt:lpstr>
      <vt:lpstr>Office Theme</vt:lpstr>
      <vt:lpstr>Transformer Pipeline</vt:lpstr>
      <vt:lpstr>The Business Problem</vt:lpstr>
      <vt:lpstr>The Solution: Bidirectional Transformation</vt:lpstr>
      <vt:lpstr>PowerPoint Presentation</vt:lpstr>
      <vt:lpstr>Real-World Example: PI Budget</vt:lpstr>
      <vt:lpstr>PowerPoint Presentation</vt:lpstr>
      <vt:lpstr>Key Business Benefits</vt:lpstr>
      <vt:lpstr>Pipeline Architecture</vt:lpstr>
      <vt:lpstr>Write Pipeline: 7 Stages</vt:lpstr>
      <vt:lpstr>Field Mapping Detail</vt:lpstr>
      <vt:lpstr>Built-In Transforms (13 Total)</vt:lpstr>
      <vt:lpstr>Validation Gate: Complete Error Reporting</vt:lpstr>
      <vt:lpstr>SQL Insert: Transactional Safety</vt:lpstr>
      <vt:lpstr>PowerPoint Presentation</vt:lpstr>
      <vt:lpstr>Read Pipeline: 7 Stages</vt:lpstr>
      <vt:lpstr>Hook System: Extensible Business Logic</vt:lpstr>
      <vt:lpstr>Writing a Custom Hook</vt:lpstr>
      <vt:lpstr>API Contract</vt:lpstr>
      <vt:lpstr>Error Handling</vt:lpstr>
      <vt:lpstr>Safety Guarantees</vt:lpstr>
      <vt:lpstr>Summary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Transformer Pipeline</dc:title>
  <dc:creator>EGS Award Management System</dc:creator>
  <cp:keywords/>
  <cp:lastModifiedBy>Josh Phipps</cp:lastModifiedBy>
  <cp:revision>1</cp:revision>
  <dcterms:created xsi:type="dcterms:W3CDTF">2026-04-06T18:36:31Z</dcterms:created>
  <dcterms:modified xsi:type="dcterms:W3CDTF">2026-04-09T17:04:53Z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Bidirectional JSON-to-Relational Conversion</vt:lpwstr>
  </property>
</Properties>
</file>