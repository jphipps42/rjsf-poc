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33"/>
    <p:restoredTop autoAdjust="0" sz="94711"/>
  </p:normalViewPr>
  <p:slideViewPr>
    <p:cSldViewPr snapToGrid="0" snapToObjects="1">
      <p:cViewPr varScale="1">
        <p:scale>
          <a:sx d="100" n="84"/>
          <a:sy d="100" n="84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Transformer</a:t>
            </a:r>
            <a:r>
              <a:rPr/>
              <a:t> </a:t>
            </a:r>
            <a:r>
              <a:rPr/>
              <a:t>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Bidirectional</a:t>
            </a:r>
            <a:r>
              <a:rPr/>
              <a:t> </a:t>
            </a:r>
            <a:r>
              <a:rPr/>
              <a:t>JSON-to-Relational</a:t>
            </a:r>
            <a:r>
              <a:rPr/>
              <a:t> </a:t>
            </a:r>
            <a:r>
              <a:rPr/>
              <a:t>Conversion</a:t>
            </a:r>
            <a:br/>
            <a:br/>
            <a:r>
              <a:rPr/>
              <a:t>EGS</a:t>
            </a:r>
            <a:r>
              <a:rPr/>
              <a:t> </a:t>
            </a:r>
            <a:r>
              <a:rPr/>
              <a:t>Award</a:t>
            </a:r>
            <a:r>
              <a:rPr/>
              <a:t> </a:t>
            </a:r>
            <a:r>
              <a:rPr/>
              <a:t>Management</a:t>
            </a:r>
            <a:r>
              <a:rPr/>
              <a:t> </a:t>
            </a:r>
            <a:r>
              <a:rPr/>
              <a:t>System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Business</a:t>
            </a:r>
            <a:r>
              <a:rPr/>
              <a:t> </a:t>
            </a: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Form data collected as flexible </a:t>
            </a:r>
            <a:r>
              <a:rPr b="1"/>
              <a:t>JSON documents</a:t>
            </a:r>
            <a:r>
              <a:rPr/>
              <a:t> from web forms</a:t>
            </a:r>
          </a:p>
          <a:p>
            <a:pPr lvl="1"/>
            <a:r>
              <a:rPr/>
              <a:t>JSON storage creates challenges:</a:t>
            </a:r>
          </a:p>
          <a:p>
            <a:pPr lvl="2"/>
            <a:r>
              <a:rPr/>
              <a:t>Reporting tools </a:t>
            </a:r>
            <a:r>
              <a:rPr b="1"/>
              <a:t>cannot query</a:t>
            </a:r>
            <a:r>
              <a:rPr/>
              <a:t> individual fields</a:t>
            </a:r>
          </a:p>
          <a:p>
            <a:pPr lvl="2"/>
            <a:r>
              <a:rPr/>
              <a:t>Compliance audits require </a:t>
            </a:r>
            <a:r>
              <a:rPr b="1"/>
              <a:t>structured data access</a:t>
            </a:r>
          </a:p>
          <a:p>
            <a:pPr lvl="2"/>
            <a:r>
              <a:rPr/>
              <a:t>Cross-form analytics impractical with opaque JSON blobs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Solution:</a:t>
            </a:r>
            <a:r>
              <a:rPr/>
              <a:t> </a:t>
            </a:r>
            <a:r>
              <a:rPr/>
              <a:t>Bidirectional</a:t>
            </a:r>
            <a:r>
              <a:rPr/>
              <a:t> </a:t>
            </a:r>
            <a:r>
              <a:rPr/>
              <a:t>Transformation</a:t>
            </a:r>
          </a:p>
        </p:txBody>
      </p:sp>
      <p:pic>
        <p:nvPicPr>
          <p:cNvPr descr="/tmp/doc-diagrams/TRANSFORMER_PIPELINE_diag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289300"/>
            <a:ext cx="8229600" cy="63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Bidirectional</a:t>
            </a:r>
            <a:r>
              <a:rPr/>
              <a:t> </a:t>
            </a:r>
            <a:r>
              <a:rPr/>
              <a:t>Flow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Write Path</a:t>
            </a:r>
            <a:r>
              <a:rPr/>
              <a:t>: Extract fields from JSON, convert types, store in typed columns</a:t>
            </a:r>
          </a:p>
          <a:p>
            <a:pPr lvl="1"/>
            <a:r>
              <a:rPr b="1"/>
              <a:t>Read Path</a:t>
            </a:r>
            <a:r>
              <a:rPr/>
              <a:t>: Query typed columns, reconstruct original JSON structure</a:t>
            </a:r>
          </a:p>
          <a:p>
            <a:pPr lvl="1"/>
            <a:r>
              <a:rPr b="1"/>
              <a:t>Round-trip fidelity</a:t>
            </a:r>
            <a:r>
              <a:rPr/>
              <a:t>: What goes in comes back out identically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Real-World</a:t>
            </a:r>
            <a:r>
              <a:rPr/>
              <a:t> </a:t>
            </a:r>
            <a:r>
              <a:rPr/>
              <a:t>Example:</a:t>
            </a:r>
            <a:r>
              <a:rPr/>
              <a:t> </a:t>
            </a:r>
            <a:r>
              <a:rPr/>
              <a:t>PI</a:t>
            </a:r>
            <a:r>
              <a:rPr/>
              <a:t> </a:t>
            </a:r>
            <a:r>
              <a:rPr/>
              <a:t>Budget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What</a:t>
                      </a:r>
                      <a:r>
                        <a:rPr/>
                        <a:t> </a:t>
                      </a:r>
                      <a:r>
                        <a:rPr/>
                        <a:t>Happens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JSON</a:t>
                      </a:r>
                      <a:r>
                        <a:rPr/>
                        <a:t> </a:t>
                      </a:r>
                      <a:r>
                        <a:rPr/>
                        <a:t>Input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User</a:t>
                      </a:r>
                      <a:r>
                        <a:rPr/>
                        <a:t> </a:t>
                      </a:r>
                      <a:r>
                        <a:rPr/>
                        <a:t>enters</a:t>
                      </a:r>
                      <a:r>
                        <a:rPr/>
                        <a:t> </a:t>
                      </a:r>
                      <a:r>
                        <a:rPr/>
                        <a:t>budget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1448199</a:t>
                      </a:r>
                      <a:r>
                        <a:rPr/>
                        <a:t> </a:t>
                      </a:r>
                      <a:r>
                        <a:rPr/>
                        <a:t>(JS</a:t>
                      </a:r>
                      <a:r>
                        <a:rPr/>
                        <a:t> </a:t>
                      </a:r>
                      <a:r>
                        <a:rPr/>
                        <a:t>number)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Transform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toBigDecimal</a:t>
                      </a:r>
                      <a:r>
                        <a:rPr/>
                        <a:t> </a:t>
                      </a:r>
                      <a:r>
                        <a:rPr/>
                        <a:t>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BigDecimal(1448199.00)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Database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Stored</a:t>
                      </a:r>
                      <a:r>
                        <a:rPr/>
                        <a:t> </a:t>
                      </a:r>
                      <a:r>
                        <a:rPr/>
                        <a:t>in</a:t>
                      </a:r>
                      <a:r>
                        <a:rPr/>
                        <a:t> </a:t>
                      </a:r>
                      <a:r>
                        <a:rPr/>
                        <a:t>NUMERIC</a:t>
                      </a:r>
                      <a:r>
                        <a:rPr/>
                        <a:t> </a:t>
                      </a:r>
                      <a:r>
                        <a:rPr/>
                        <a:t>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1448199.00</a:t>
                      </a:r>
                      <a:r>
                        <a:rPr/>
                        <a:t> </a:t>
                      </a:r>
                      <a:r>
                        <a:rPr/>
                        <a:t>(15,2</a:t>
                      </a:r>
                      <a:r>
                        <a:rPr/>
                        <a:t> </a:t>
                      </a:r>
                      <a:r>
                        <a:rPr/>
                        <a:t>precision)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Read</a:t>
                      </a:r>
                      <a:r>
                        <a:rPr/>
                        <a:t> </a:t>
                      </a:r>
                      <a:r>
                        <a:rPr/>
                        <a:t>Back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Column</a:t>
                      </a:r>
                      <a:r>
                        <a:rPr/>
                        <a:t> </a:t>
                      </a:r>
                      <a:r>
                        <a:rPr/>
                        <a:t>value</a:t>
                      </a:r>
                      <a:r>
                        <a:rPr/>
                        <a:t> </a:t>
                      </a:r>
                      <a:r>
                        <a:rPr/>
                        <a:t>retrieved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BigDecimal(1448199.00)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JSON</a:t>
                      </a:r>
                      <a:r>
                        <a:rPr/>
                        <a:t> </a:t>
                      </a: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Returned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frontend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1448199.0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No precision loss. No rounding errors.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Key</a:t>
            </a:r>
            <a:r>
              <a:rPr/>
              <a:t> </a:t>
            </a:r>
            <a:r>
              <a:rPr/>
              <a:t>Business</a:t>
            </a:r>
            <a:r>
              <a:rPr/>
              <a:t> </a:t>
            </a:r>
            <a:r>
              <a:rPr/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Queryable data</a:t>
            </a:r>
            <a:r>
              <a:rPr/>
              <a:t> — Each field in its own typed column; direct SQL for reports</a:t>
            </a:r>
          </a:p>
          <a:p>
            <a:pPr lvl="1"/>
            <a:r>
              <a:rPr b="1"/>
              <a:t>Data integrity</a:t>
            </a:r>
            <a:r>
              <a:rPr/>
              <a:t> — Dates stored as dates, numbers as numbers</a:t>
            </a:r>
          </a:p>
          <a:p>
            <a:pPr lvl="1"/>
            <a:r>
              <a:rPr b="1"/>
              <a:t>Validation at the gate</a:t>
            </a:r>
            <a:r>
              <a:rPr/>
              <a:t> — Required fields and formats enforced before database</a:t>
            </a:r>
          </a:p>
          <a:p>
            <a:pPr lvl="1"/>
            <a:r>
              <a:rPr b="1"/>
              <a:t>Extensible</a:t>
            </a:r>
            <a:r>
              <a:rPr/>
              <a:t> — Custom business logic via named hook points, not hardcoded</a:t>
            </a:r>
          </a:p>
          <a:p>
            <a:pPr lvl="1"/>
            <a:r>
              <a:rPr b="1"/>
              <a:t>Compliance-ready</a:t>
            </a:r>
            <a:r>
              <a:rPr/>
              <a:t> — Schema versioning for historical data reconstruction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Pipeline</a:t>
            </a:r>
            <a:r>
              <a:rPr/>
              <a:t> </a:t>
            </a:r>
            <a:r>
              <a:rPr/>
              <a:t>Architecture</a:t>
            </a:r>
          </a:p>
        </p:txBody>
      </p:sp>
      <p:pic>
        <p:nvPicPr>
          <p:cNvPr descr="/tmp/doc-diagrams/TRANSFORMER_PIPELINE_dia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1600200"/>
            <a:ext cx="17399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Full</a:t>
            </a:r>
            <a:r>
              <a:rPr/>
              <a:t> </a:t>
            </a:r>
            <a:r>
              <a:rPr/>
              <a:t>Pipeline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Write</a:t>
            </a:r>
            <a:r>
              <a:rPr/>
              <a:t> </a:t>
            </a:r>
            <a:r>
              <a:rPr/>
              <a:t>Pipeline:</a:t>
            </a:r>
            <a:r>
              <a:rPr/>
              <a:t> </a:t>
            </a:r>
            <a:r>
              <a:rPr/>
              <a:t>7</a:t>
            </a:r>
            <a:r>
              <a:rPr/>
              <a:t> </a:t>
            </a: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AutoNum type="arabicPeriod"/>
            </a:pPr>
            <a:r>
              <a:rPr b="1"/>
              <a:t>Template Resolution</a:t>
            </a:r>
            <a:r>
              <a:rPr/>
              <a:t> — Load template from cache by formId</a:t>
            </a:r>
          </a:p>
          <a:p>
            <a:pPr lvl="1">
              <a:buAutoNum type="arabicPeriod"/>
            </a:pPr>
            <a:r>
              <a:rPr b="1"/>
              <a:t>Pre-Validation Hooks</a:t>
            </a:r>
            <a:r>
              <a:rPr/>
              <a:t> — Normalize data (trim, format phones)</a:t>
            </a:r>
          </a:p>
          <a:p>
            <a:pPr lvl="1">
              <a:buAutoNum type="arabicPeriod"/>
            </a:pPr>
            <a:r>
              <a:rPr b="1"/>
              <a:t>Validation Gate</a:t>
            </a:r>
            <a:r>
              <a:rPr/>
              <a:t> — Check required fields, enums, formats; collect ALL errors</a:t>
            </a:r>
          </a:p>
          <a:p>
            <a:pPr lvl="1">
              <a:buAutoNum type="arabicPeriod"/>
            </a:pPr>
            <a:r>
              <a:rPr b="1"/>
              <a:t>Field Mapping</a:t>
            </a:r>
            <a:r>
              <a:rPr/>
              <a:t> — Extract by jsonPath, apply transforms, coerce types</a:t>
            </a:r>
          </a:p>
          <a:p>
            <a:pPr lvl="1">
              <a:buAutoNum type="arabicPeriod"/>
            </a:pPr>
            <a:r>
              <a:rPr b="1"/>
              <a:t>Pre-Insert Hooks</a:t>
            </a:r>
            <a:r>
              <a:rPr/>
              <a:t> — Encrypt, hash, cross-field logic</a:t>
            </a:r>
          </a:p>
          <a:p>
            <a:pPr lvl="1">
              <a:buAutoNum type="arabicPeriod"/>
            </a:pPr>
            <a:r>
              <a:rPr b="1"/>
              <a:t>SQL Insert</a:t>
            </a:r>
            <a:r>
              <a:rPr/>
              <a:t> — Atomic parent + child table writes</a:t>
            </a:r>
          </a:p>
          <a:p>
            <a:pPr lvl="1">
              <a:buAutoNum type="arabicPeriod"/>
            </a:pPr>
            <a:r>
              <a:rPr b="1"/>
              <a:t>Post-Insert Hooks</a:t>
            </a:r>
            <a:r>
              <a:rPr/>
              <a:t> — Audit events, notifications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Field</a:t>
            </a:r>
            <a:r>
              <a:rPr/>
              <a:t> </a:t>
            </a:r>
            <a:r>
              <a:rPr/>
              <a:t>Mapping</a:t>
            </a:r>
            <a:r>
              <a:rPr/>
              <a:t> </a:t>
            </a:r>
            <a:r>
              <a:rPr/>
              <a:t>Detail</a:t>
            </a:r>
          </a:p>
        </p:txBody>
      </p:sp>
      <p:pic>
        <p:nvPicPr>
          <p:cNvPr descr="/tmp/doc-diagrams/TRANSFORMER_PIPELINE_dia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327400"/>
            <a:ext cx="8229600" cy="55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Field</a:t>
            </a:r>
            <a:r>
              <a:rPr/>
              <a:t> </a:t>
            </a:r>
            <a:r>
              <a:rPr/>
              <a:t>Mapping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Built-In</a:t>
            </a:r>
            <a:r>
              <a:rPr/>
              <a:t> </a:t>
            </a:r>
            <a:r>
              <a:rPr/>
              <a:t>Transforms</a:t>
            </a:r>
            <a:r>
              <a:rPr/>
              <a:t> </a:t>
            </a:r>
            <a:r>
              <a:rPr/>
              <a:t>(13</a:t>
            </a:r>
            <a:r>
              <a:rPr/>
              <a:t> </a:t>
            </a:r>
            <a:r>
              <a:rPr/>
              <a:t>Total)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Transform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Behavior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toLocalDate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toDb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ISO</a:t>
                      </a:r>
                      <a:r>
                        <a:rPr/>
                        <a:t> </a:t>
                      </a:r>
                      <a:r>
                        <a:rPr/>
                        <a:t>string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LocalDate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toIsoDateString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fromDb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LocalDate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yyyy-MM-dd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toBigDecimal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toDb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Number/String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precise</a:t>
                      </a:r>
                      <a:r>
                        <a:rPr/>
                        <a:t> </a:t>
                      </a:r>
                      <a:r>
                        <a:rPr/>
                        <a:t>decimal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jsonStringify</a:t>
                      </a:r>
                      <a:r>
                        <a:rPr/>
                        <a:t> </a:t>
                      </a:r>
                      <a:r>
                        <a:rPr/>
                        <a:t>/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jsonParse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both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Map/List</a:t>
                      </a:r>
                      <a:r>
                        <a:rPr/>
                        <a:t> </a:t>
                      </a:r>
                      <a:r>
                        <a:rPr/>
                        <a:t>to/from</a:t>
                      </a:r>
                      <a:r>
                        <a:rPr/>
                        <a:t> </a:t>
                      </a:r>
                      <a:r>
                        <a:rPr/>
                        <a:t>JSON</a:t>
                      </a:r>
                      <a:r>
                        <a:rPr/>
                        <a:t> </a:t>
                      </a:r>
                      <a:r>
                        <a:rPr/>
                        <a:t>string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trimString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toDb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Whitespace</a:t>
                      </a:r>
                      <a:r>
                        <a:rPr/>
                        <a:t> </a:t>
                      </a:r>
                      <a:r>
                        <a:rPr/>
                        <a:t>removal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toLowerCase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toDb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Case</a:t>
                      </a:r>
                      <a:r>
                        <a:rPr/>
                        <a:t> </a:t>
                      </a:r>
                      <a:r>
                        <a:rPr/>
                        <a:t>normalization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toBoolean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toDb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“</a:t>
                      </a:r>
                      <a:r>
                        <a:rPr/>
                        <a:t>true</a:t>
                      </a:r>
                      <a:r>
                        <a:rPr/>
                        <a:t>”</a:t>
                      </a:r>
                      <a:r>
                        <a:rPr/>
                        <a:t>/1/true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Boolean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maskLast4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fromDb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PII</a:t>
                      </a:r>
                      <a:r>
                        <a:rPr/>
                        <a:t> </a:t>
                      </a:r>
                      <a:r>
                        <a:rPr/>
                        <a:t>masking</a:t>
                      </a:r>
                      <a:r>
                        <a:rPr/>
                        <a:t> </a:t>
                      </a:r>
                      <a:r>
                        <a:rPr/>
                        <a:t>for</a:t>
                      </a:r>
                      <a:r>
                        <a:rPr/>
                        <a:t> </a:t>
                      </a:r>
                      <a:r>
                        <a:rPr/>
                        <a:t>display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Plus: </a:t>
            </a:r>
            <a:r>
              <a:rPr>
                <a:latin typeface="Courier"/>
              </a:rPr>
              <a:t>toInstant</a:t>
            </a:r>
            <a:r>
              <a:rPr/>
              <a:t>, </a:t>
            </a:r>
            <a:r>
              <a:rPr>
                <a:latin typeface="Courier"/>
              </a:rPr>
              <a:t>fromInstant</a:t>
            </a:r>
            <a:r>
              <a:rPr/>
              <a:t>, </a:t>
            </a:r>
            <a:r>
              <a:rPr>
                <a:latin typeface="Courier"/>
              </a:rPr>
              <a:t>toInteger</a:t>
            </a:r>
            <a:r>
              <a:rPr/>
              <a:t>, </a:t>
            </a:r>
            <a:r>
              <a:rPr>
                <a:latin typeface="Courier"/>
              </a:rPr>
              <a:t>toUUID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Validation</a:t>
            </a:r>
            <a:r>
              <a:rPr/>
              <a:t> </a:t>
            </a:r>
            <a:r>
              <a:rPr/>
              <a:t>Gate: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Error</a:t>
            </a:r>
            <a:r>
              <a:rPr/>
              <a:t> </a:t>
            </a:r>
            <a:r>
              <a:rPr/>
              <a:t>Reporting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"error"</a:t>
            </a:r>
            <a:r>
              <a:rPr>
                <a:solidFill>
                  <a:srgbClr val="06287E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"VALIDATION_FAILED"</a:t>
            </a:r>
            <a:r>
              <a:rPr>
                <a:solidFill>
                  <a:srgbClr val="06287E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"violations"</a:t>
            </a:r>
            <a:r>
              <a:rPr>
                <a:solidFill>
                  <a:srgbClr val="06287E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[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"json_path"</a:t>
            </a:r>
            <a:r>
              <a:rPr>
                <a:solidFill>
                  <a:srgbClr val="06287E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"program_manager"</a:t>
            </a:r>
            <a:r>
              <a:rPr>
                <a:solidFill>
                  <a:srgbClr val="06287E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902000"/>
                </a:solidFill>
                <a:latin typeface="Courier"/>
              </a:rPr>
              <a:t>"message"</a:t>
            </a:r>
            <a:r>
              <a:rPr>
                <a:solidFill>
                  <a:srgbClr val="06287E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"Required field is missing"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}</a:t>
            </a:r>
            <a:r>
              <a:rPr>
                <a:solidFill>
                  <a:srgbClr val="007020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"json_path"</a:t>
            </a:r>
            <a:r>
              <a:rPr>
                <a:solidFill>
                  <a:srgbClr val="06287E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"prime_award_type"</a:t>
            </a:r>
            <a:r>
              <a:rPr>
                <a:solidFill>
                  <a:srgbClr val="06287E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902000"/>
                </a:solidFill>
                <a:latin typeface="Courier"/>
              </a:rPr>
              <a:t>"message"</a:t>
            </a:r>
            <a:r>
              <a:rPr>
                <a:solidFill>
                  <a:srgbClr val="06287E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"Value not in allowed values"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7020"/>
                </a:solidFill>
                <a:latin typeface="Courier"/>
              </a:rPr>
              <a:t>]</a:t>
            </a:r>
            <a:br/>
            <a:r>
              <a:rPr>
                <a:solidFill>
                  <a:srgbClr val="06287E"/>
                </a:solidFill>
                <a:latin typeface="Courier"/>
              </a:rPr>
              <a:t>}</a:t>
            </a:r>
          </a:p>
          <a:p>
            <a:pPr lvl="0" marL="0" indent="0">
              <a:buNone/>
            </a:pPr>
            <a:r>
              <a:rPr/>
              <a:t>All violations collected before throwing — caller gets a </a:t>
            </a:r>
            <a:r>
              <a:rPr b="1"/>
              <a:t>complete</a:t>
            </a:r>
            <a:r>
              <a:rPr/>
              <a:t> error list.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SQL</a:t>
            </a:r>
            <a:r>
              <a:rPr/>
              <a:t> </a:t>
            </a:r>
            <a:r>
              <a:rPr/>
              <a:t>Insert:</a:t>
            </a:r>
            <a:r>
              <a:rPr/>
              <a:t> </a:t>
            </a:r>
            <a:r>
              <a:rPr/>
              <a:t>Transactional</a:t>
            </a:r>
            <a:r>
              <a:rPr/>
              <a:t> </a:t>
            </a:r>
            <a:r>
              <a:rPr/>
              <a:t>Safety</a:t>
            </a:r>
          </a:p>
        </p:txBody>
      </p:sp>
      <p:pic>
        <p:nvPicPr>
          <p:cNvPr descr="/tmp/doc-diagrams/TRANSFORMER_PIPELINE_diag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86100"/>
            <a:ext cx="82296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SQL</a:t>
            </a:r>
            <a:r>
              <a:rPr/>
              <a:t> </a:t>
            </a:r>
            <a:r>
              <a:rPr/>
              <a:t>Insert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@Transactional(isolation = REPEATABLE_READ)</a:t>
            </a:r>
          </a:p>
          <a:p>
            <a:pPr lvl="1"/>
            <a:r>
              <a:rPr/>
              <a:t>Parent + child tables in single atomic transaction</a:t>
            </a:r>
          </a:p>
          <a:p>
            <a:pPr lvl="1"/>
            <a:r>
              <a:rPr>
                <a:latin typeface="Courier"/>
              </a:rPr>
              <a:t>GeneratedKeyHolder</a:t>
            </a:r>
            <a:r>
              <a:rPr/>
              <a:t> captures auto-generated </a:t>
            </a:r>
            <a:r>
              <a:rPr>
                <a:latin typeface="Courier"/>
              </a:rPr>
              <a:t>submission_id</a:t>
            </a:r>
          </a:p>
          <a:p>
            <a:pPr lvl="1"/>
            <a:r>
              <a:rPr/>
              <a:t>Duplicate key caught and returned as HTTP 409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</a:t>
            </a:r>
            <a:r>
              <a:rPr/>
              <a:t> </a:t>
            </a:r>
            <a:r>
              <a:rPr/>
              <a:t>Pipeline:</a:t>
            </a:r>
            <a:r>
              <a:rPr/>
              <a:t> </a:t>
            </a:r>
            <a:r>
              <a:rPr/>
              <a:t>7</a:t>
            </a:r>
            <a:r>
              <a:rPr/>
              <a:t> </a:t>
            </a: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AutoNum type="arabicPeriod"/>
            </a:pPr>
            <a:r>
              <a:rPr b="1"/>
              <a:t>Template Resolution</a:t>
            </a:r>
            <a:r>
              <a:rPr/>
              <a:t> — Same template, optional version pinning</a:t>
            </a:r>
          </a:p>
          <a:p>
            <a:pPr lvl="1">
              <a:buAutoNum type="arabicPeriod"/>
            </a:pPr>
            <a:r>
              <a:rPr b="1"/>
              <a:t>Primary Row Query</a:t>
            </a:r>
            <a:r>
              <a:rPr/>
              <a:t> — SELECT by submission_id</a:t>
            </a:r>
          </a:p>
          <a:p>
            <a:pPr lvl="1">
              <a:buAutoNum type="arabicPeriod"/>
            </a:pPr>
            <a:r>
              <a:rPr b="1"/>
              <a:t>Child Table Queries</a:t>
            </a:r>
            <a:r>
              <a:rPr/>
              <a:t> — SELECT children ordered by item_index</a:t>
            </a:r>
          </a:p>
          <a:p>
            <a:pPr lvl="1">
              <a:buAutoNum type="arabicPeriod"/>
            </a:pPr>
            <a:r>
              <a:rPr b="1"/>
              <a:t>Post-Query Hooks</a:t>
            </a:r>
            <a:r>
              <a:rPr/>
              <a:t> — PII masking, decryption</a:t>
            </a:r>
          </a:p>
          <a:p>
            <a:pPr lvl="1">
              <a:buAutoNum type="arabicPeriod"/>
            </a:pPr>
            <a:r>
              <a:rPr b="1"/>
              <a:t>Field Assembly</a:t>
            </a:r>
            <a:r>
              <a:rPr/>
              <a:t> — fromDb transforms, rebuild nested JSON</a:t>
            </a:r>
          </a:p>
          <a:p>
            <a:pPr lvl="1">
              <a:buAutoNum type="arabicPeriod"/>
            </a:pPr>
            <a:r>
              <a:rPr b="1"/>
              <a:t>Post-Assembly Hooks</a:t>
            </a:r>
            <a:r>
              <a:rPr/>
              <a:t> — Computed fields, lookup hydration</a:t>
            </a:r>
          </a:p>
          <a:p>
            <a:pPr lvl="1">
              <a:buAutoNum type="arabicPeriod"/>
            </a:pPr>
            <a:r>
              <a:rPr b="1"/>
              <a:t>Response Envelope</a:t>
            </a:r>
            <a:r>
              <a:rPr/>
              <a:t> — Wrap with metadata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Hook</a:t>
            </a:r>
            <a:r>
              <a:rPr/>
              <a:t> </a:t>
            </a:r>
            <a:r>
              <a:rPr/>
              <a:t>System:</a:t>
            </a:r>
            <a:r>
              <a:rPr/>
              <a:t> </a:t>
            </a:r>
            <a:r>
              <a:rPr/>
              <a:t>Extensible</a:t>
            </a:r>
            <a:r>
              <a:rPr/>
              <a:t> </a:t>
            </a:r>
            <a:r>
              <a:rPr/>
              <a:t>Business</a:t>
            </a:r>
            <a:r>
              <a:rPr/>
              <a:t> </a:t>
            </a:r>
            <a:r>
              <a:rPr/>
              <a:t>Logic</a:t>
            </a:r>
          </a:p>
        </p:txBody>
      </p:sp>
      <p:pic>
        <p:nvPicPr>
          <p:cNvPr descr="/tmp/doc-diagrams/TRANSFORMER_PIPELINE_diag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03600" y="1600200"/>
            <a:ext cx="23495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Hook</a:t>
            </a:r>
            <a:r>
              <a:rPr/>
              <a:t> </a:t>
            </a:r>
            <a:r>
              <a:rPr/>
              <a:t>System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Custom</a:t>
            </a:r>
            <a:r>
              <a:rPr/>
              <a:t> </a:t>
            </a:r>
            <a:r>
              <a:rPr/>
              <a:t>Hook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@Component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"normalizePhoneNumbersHook"</a:t>
            </a:r>
            <a:r>
              <a:rPr>
                <a:solidFill>
                  <a:srgbClr val="666666"/>
                </a:solidFill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public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NormalizePhoneNumbers </a:t>
            </a:r>
            <a:r>
              <a:rPr b="1">
                <a:solidFill>
                  <a:srgbClr val="007020"/>
                </a:solidFill>
                <a:latin typeface="Courier"/>
              </a:rPr>
              <a:t>implements</a:t>
            </a:r>
            <a:r>
              <a:rPr>
                <a:latin typeface="Courier"/>
              </a:rPr>
              <a:t> WriteHook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@Override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public</a:t>
            </a:r>
            <a:r>
              <a:rPr>
                <a:latin typeface="Courier"/>
              </a:rPr>
              <a:t> Map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Object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apply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latin typeface="Courier"/>
              </a:rPr>
              <a:t>Map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Object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data</a:t>
            </a:r>
            <a:r>
              <a:rPr>
                <a:solidFill>
                  <a:srgbClr val="666666"/>
                </a:solidFill>
                <a:latin typeface="Courier"/>
              </a:rPr>
              <a:t>)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// Normalize phone fields to E.164 format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data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 marL="0" indent="0">
              <a:buNone/>
            </a:pPr>
            <a:r>
              <a:rPr/>
              <a:t>Reference by name in template JSON — no pipeline code changes needed.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API</a:t>
            </a:r>
            <a:r>
              <a:rPr/>
              <a:t> </a:t>
            </a:r>
            <a:r>
              <a:rPr/>
              <a:t>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Write:</a:t>
            </a:r>
          </a:p>
          <a:p>
            <a:pPr lvl="0" indent="0">
              <a:buNone/>
            </a:pPr>
            <a:r>
              <a:rPr>
                <a:latin typeface="Courier"/>
              </a:rPr>
              <a:t>POST /api/v1/submissions
{ "form_id": "pre-award-overview",
  "form_data": { "pi_budget": 1448199, ... } }
→ 201 { "submission_id": 1, "version": 1 }</a:t>
            </a:r>
          </a:p>
          <a:p>
            <a:pPr lvl="0" marL="0" indent="0">
              <a:buNone/>
            </a:pPr>
            <a:r>
              <a:rPr b="1"/>
              <a:t>Read:</a:t>
            </a:r>
          </a:p>
          <a:p>
            <a:pPr lvl="0" indent="0">
              <a:buNone/>
            </a:pPr>
            <a:r>
              <a:rPr>
                <a:latin typeface="Courier"/>
              </a:rPr>
              <a:t>GET /api/v1/submissions/1?form_id=pre-award-overview
→ 200 { "submission_id": 1, "form_data": { ... } 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Error</a:t>
            </a:r>
            <a:r>
              <a:rPr/>
              <a:t> </a:t>
            </a:r>
            <a:r>
              <a:rPr/>
              <a:t>Handling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HTTP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Error</a:t>
                      </a:r>
                      <a:r>
                        <a:rPr/>
                        <a:t> </a:t>
                      </a: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TEMPLATE_NOT_FOUND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</a:t>
                      </a:r>
                      <a:r>
                        <a:rPr/>
                        <a:t> </a:t>
                      </a:r>
                      <a:r>
                        <a:rPr/>
                        <a:t>template</a:t>
                      </a:r>
                      <a:r>
                        <a:rPr/>
                        <a:t> </a:t>
                      </a:r>
                      <a:r>
                        <a:rPr/>
                        <a:t>for</a:t>
                      </a:r>
                      <a:r>
                        <a:rPr/>
                        <a:t> </a:t>
                      </a:r>
                      <a:r>
                        <a:rPr/>
                        <a:t>formId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VALIDATION_FAILED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Field</a:t>
                      </a:r>
                      <a:r>
                        <a:rPr/>
                        <a:t> </a:t>
                      </a:r>
                      <a:r>
                        <a:rPr/>
                        <a:t>constraint</a:t>
                      </a:r>
                      <a:r>
                        <a:rPr/>
                        <a:t> </a:t>
                      </a:r>
                      <a:r>
                        <a:rPr/>
                        <a:t>violations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VERSION_MISMATCH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Version</a:t>
                      </a:r>
                      <a:r>
                        <a:rPr/>
                        <a:t> </a:t>
                      </a:r>
                      <a:r>
                        <a:rPr/>
                        <a:t>exceeds</a:t>
                      </a:r>
                      <a:r>
                        <a:rPr/>
                        <a:t> </a:t>
                      </a:r>
                      <a:r>
                        <a:rPr/>
                        <a:t>template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SUBMISSION_NOT_FOUND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</a:t>
                      </a:r>
                      <a:r>
                        <a:rPr/>
                        <a:t> </a:t>
                      </a:r>
                      <a:r>
                        <a:rPr/>
                        <a:t>row</a:t>
                      </a:r>
                      <a:r>
                        <a:rPr/>
                        <a:t> </a:t>
                      </a:r>
                      <a:r>
                        <a:rPr/>
                        <a:t>for</a:t>
                      </a:r>
                      <a:r>
                        <a:rPr/>
                        <a:t> </a:t>
                      </a:r>
                      <a:r>
                        <a:rPr/>
                        <a:t>submissionId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DUPLICATE_SUBMISSION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Unique</a:t>
                      </a:r>
                      <a:r>
                        <a:rPr/>
                        <a:t> </a:t>
                      </a:r>
                      <a:r>
                        <a:rPr/>
                        <a:t>constraint</a:t>
                      </a:r>
                      <a:r>
                        <a:rPr/>
                        <a:t> </a:t>
                      </a:r>
                      <a:r>
                        <a:rPr/>
                        <a:t>violation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Safety</a:t>
            </a:r>
            <a:r>
              <a:rPr/>
              <a:t> </a:t>
            </a:r>
            <a:r>
              <a:rPr/>
              <a:t>Guarantees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Guarantee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Atomic</a:t>
                      </a:r>
                      <a:r>
                        <a:rPr b="1"/>
                        <a:t> </a:t>
                      </a:r>
                      <a:r>
                        <a:rPr b="1"/>
                        <a:t>writes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@Transactional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/>
                        <a:t>REPEATABLE_READ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Rollback</a:t>
                      </a:r>
                      <a:r>
                        <a:rPr b="1"/>
                        <a:t> </a:t>
                      </a:r>
                      <a:r>
                        <a:rPr b="1"/>
                        <a:t>on</a:t>
                      </a:r>
                      <a:r>
                        <a:rPr b="1"/>
                        <a:t> </a:t>
                      </a:r>
                      <a:r>
                        <a:rPr b="1"/>
                        <a:t>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DataAccessException</a:t>
                      </a:r>
                      <a:r>
                        <a:rPr/>
                        <a:t> </a:t>
                      </a:r>
                      <a:r>
                        <a:rPr/>
                        <a:t>triggers</a:t>
                      </a:r>
                      <a:r>
                        <a:rPr/>
                        <a:t> </a:t>
                      </a:r>
                      <a:r>
                        <a:rPr/>
                        <a:t>rollback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SQL</a:t>
                      </a:r>
                      <a:r>
                        <a:rPr b="1"/>
                        <a:t> </a:t>
                      </a:r>
                      <a:r>
                        <a:rPr b="1"/>
                        <a:t>injection</a:t>
                      </a:r>
                      <a:r>
                        <a:rPr b="1"/>
                        <a:t> </a:t>
                      </a:r>
                      <a:r>
                        <a:rPr b="1"/>
                        <a:t>prevention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IdentifierValidator</a:t>
                      </a:r>
                      <a:r>
                        <a:rPr/>
                        <a:t> </a:t>
                      </a:r>
                      <a:r>
                        <a:rPr/>
                        <a:t>+</a:t>
                      </a:r>
                      <a:r>
                        <a:rPr/>
                        <a:t> </a:t>
                      </a:r>
                      <a:r>
                        <a:rPr/>
                        <a:t>named</a:t>
                      </a:r>
                      <a:r>
                        <a:rPr/>
                        <a:t> </a:t>
                      </a:r>
                      <a:r>
                        <a:rPr/>
                        <a:t>parameters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Additive-only</a:t>
                      </a:r>
                      <a:r>
                        <a:rPr b="1"/>
                        <a:t> </a:t>
                      </a:r>
                      <a:r>
                        <a:rPr b="1"/>
                        <a:t>DDL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Never</a:t>
                      </a:r>
                      <a:r>
                        <a:rPr/>
                        <a:t> </a:t>
                      </a:r>
                      <a:r>
                        <a:rPr/>
                        <a:t>drop</a:t>
                      </a:r>
                      <a:r>
                        <a:rPr/>
                        <a:t> </a:t>
                      </a:r>
                      <a:r>
                        <a:rPr/>
                        <a:t>columns</a:t>
                      </a:r>
                      <a:r>
                        <a:rPr/>
                        <a:t> </a:t>
                      </a:r>
                      <a:r>
                        <a:rPr/>
                        <a:t>or</a:t>
                      </a:r>
                      <a:r>
                        <a:rPr/>
                        <a:t> </a:t>
                      </a:r>
                      <a:r>
                        <a:rPr/>
                        <a:t>tables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Post-insert</a:t>
                      </a:r>
                      <a:r>
                        <a:rPr b="1"/>
                        <a:t> </a:t>
                      </a:r>
                      <a:r>
                        <a:rPr b="1"/>
                        <a:t>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Hook</a:t>
                      </a:r>
                      <a:r>
                        <a:rPr/>
                        <a:t> </a:t>
                      </a:r>
                      <a:r>
                        <a:rPr/>
                        <a:t>failures</a:t>
                      </a:r>
                      <a:r>
                        <a:rPr/>
                        <a:t> </a:t>
                      </a:r>
                      <a:r>
                        <a:rPr/>
                        <a:t>don’t</a:t>
                      </a:r>
                      <a:r>
                        <a:rPr/>
                        <a:t> </a:t>
                      </a:r>
                      <a:r>
                        <a:rPr/>
                        <a:t>rollback</a:t>
                      </a:r>
                      <a:r>
                        <a:rPr/>
                        <a:t> </a:t>
                      </a:r>
                      <a:r>
                        <a:rPr/>
                        <a:t>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For Business</a:t>
            </a:r>
            <a:r>
              <a:rPr/>
              <a:t>: Queryable, typed data for reporting and analytics</a:t>
            </a:r>
          </a:p>
          <a:p>
            <a:pPr lvl="1"/>
            <a:r>
              <a:rPr b="1"/>
              <a:t>For Compliance</a:t>
            </a:r>
            <a:r>
              <a:rPr/>
              <a:t>: Schema-versioned submissions with audit trail</a:t>
            </a:r>
          </a:p>
          <a:p>
            <a:pPr lvl="1"/>
            <a:r>
              <a:rPr b="1"/>
              <a:t>For Development</a:t>
            </a:r>
            <a:r>
              <a:rPr/>
              <a:t>: 13 built-in transforms, pluggable hooks, zero-code form additions</a:t>
            </a:r>
          </a:p>
          <a:p>
            <a:pPr lvl="1"/>
            <a:r>
              <a:rPr b="1"/>
              <a:t>For Operations</a:t>
            </a:r>
            <a:r>
              <a:rPr/>
              <a:t>: Atomic transactions, additive-only DDL, safe error handling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Transformer Pipeline</dc:title>
  <dc:creator>EGS Award Management System</dc:creator>
  <cp:keywords/>
  <dcterms:created xsi:type="dcterms:W3CDTF">2026-04-06T18:36:31Z</dcterms:created>
  <dcterms:modified xsi:type="dcterms:W3CDTF">2026-04-06T18:36:31Z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Bidirectional JSON-to-Relational Conversion</vt:lpwstr>
  </property>
</Properties>
</file>